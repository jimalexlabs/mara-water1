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MARA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8C5B8"/>
                </a:solidFill>
                <a:latin typeface="Calibri"/>
              </a:rPr>
              <a:t>Bottled Water Operations  ·  Rongo, Kenya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Investor Briefing — Operating Model, Monthly Economics &amp;
Digital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E0D8"/>
                </a:solidFill>
                <a:latin typeface="Calibri"/>
              </a:rPr>
              <a:t>Homa Springs Limited
Confidential  ·  For discussion with prospective capital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64008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051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Why bottled water distribution in this corridor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7451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How the business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194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Four-week cycle from bags in Nairobi to bales sold in the field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974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Operations deep 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17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Sourcing → production → dispatch → sales → returns → payroll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204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A full month in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840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Revenue, COGS, payroll, fuel, repairs — and working capital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43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The digital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663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Live control so capital is not flying blind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640080" cy="6400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166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2E"/>
                </a:solidFill>
                <a:latin typeface="Calibri"/>
              </a:rPr>
              <a:t>The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Structure, use of funds, and what investors see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F1C"/>
                </a:solidFill>
                <a:latin typeface="Calibri"/>
              </a:rPr>
              <a:t>Reliable bottled water for a high-throughput trade corridor — with disciplined 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1920240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2E"/>
                </a:solidFill>
                <a:latin typeface="Calibri"/>
              </a:rPr>
              <a:t>Geography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Base in Rongo. Routes cover Rodi, Homa Bay, Uriri, Migori, Nyatike, Opapo, Masara — daily field sales into shops and institutions.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109728" cy="1920240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2E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423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Buy empty bottles in bags from Nairobi suppliers → produce finished bales → push stock through driver/sales trips → reconcile returns automatically.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109728" cy="1920240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2E"/>
                </a:solidFill>
                <a:latin typeface="Calibri"/>
              </a:rPr>
              <a:t>Why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Paper invoices and spreadsheet chaos hide leakage. A live system turns every trip, bag, and shilling into an auditable record.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93192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109728" cy="1920240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160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2E"/>
                </a:solidFill>
                <a:latin typeface="Calibri"/>
              </a:rPr>
              <a:t>Investor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6177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Capital for stock and working capital in exchange for a revenue-share stake — not a loan. Strategic oversight, not day-to-day noise.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3D2E"/>
                </a:solidFill>
                <a:latin typeface="Calibri"/>
              </a:rPr>
              <a:t>Homa Springs Limited trading as Mara 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6A"/>
                </a:solidFill>
                <a:latin typeface="Calibri"/>
              </a:rPr>
              <a:t>Legal /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Homa Springs Limited · Mara 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6A"/>
                </a:solidFill>
                <a:latin typeface="Calibri"/>
              </a:rPr>
              <a:t>Operations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57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Rongo, Kenya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6A"/>
                </a:solidFill>
                <a:latin typeface="Calibri"/>
              </a:rPr>
              <a:t>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Empty bottles &amp; seals from Nairobi (Fine Line, Blue Plus); bailing papers from Kisumu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6A"/>
                </a:solidFill>
                <a:latin typeface="Calibri"/>
              </a:rPr>
              <a:t>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632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Single warehouse — stock arrives or leaves on trips; no multi-site inventory games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6A"/>
                </a:solidFill>
                <a:latin typeface="Calibri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5661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Bottled water SKUs (e.g. 0.5L / 1L brands) sold by the bale (24 bottles)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B6A"/>
                </a:solidFill>
                <a:latin typeface="Calibri"/>
              </a:rPr>
              <a:t>Go-to-market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690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Driver + Sales Executive field trips; walk-in &amp; manager field sales; institutional/corporate rates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3D2E"/>
                </a:solidFill>
                <a:latin typeface="Calibri"/>
              </a:rPr>
              <a:t>Principle we run on: if a figure can be calculated with certainty from captured data (bales expected, goods returned, daily production, profit), the system calculates it — humans do not type guesses.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The operating rhythm — a two-week production / sales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63"/>
                </a:solidFill>
                <a:latin typeface="Calibri"/>
              </a:rPr>
              <a:t>Cash and stock move in a predictable four-week pulse. Capital partners fund the pulse, not chaos.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743200" cy="8229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Purchase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F1C"/>
                </a:solidFill>
                <a:latin typeface="Calibri"/>
              </a:rPr>
              <a:t>Order &amp; receive stock
Bags of empties from
Fine Line / Blue Plus
+ transport from Nairobi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743200" cy="82296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65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F1C"/>
                </a:solidFill>
                <a:latin typeface="Calibri"/>
              </a:rPr>
              <a:t>Production team runs
full two weeks’ stock
Bags → finished bales
QA / water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554480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2743200" cy="8229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Sell 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F1C"/>
                </a:solidFill>
                <a:latin typeface="Calibri"/>
              </a:rPr>
              <a:t>Driver &amp; sales exec
trips push bales into
the corridor
Cash + M-Pesa + debt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554480"/>
            <a:ext cx="27432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743200" cy="82296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691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4A35A"/>
                </a:solidFill>
                <a:latin typeface="Calibri"/>
              </a:rP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965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Produce again
&amp; clear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6517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F1C"/>
                </a:solidFill>
                <a:latin typeface="Calibri"/>
              </a:rPr>
              <a:t>Production returns
Remaining Week-3 stock
sold out
Cycle resets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Operations deep dive —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247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1.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Bags of empty bottles + seals purchased in Nairobi. Supplier-specific bottles/bag. Invoice attached to Stock Arrival.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515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05156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1247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2. Convert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0020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System computes bales expected =
(bags × bottles/bag) ÷ 24.
No manual ‘should be’.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515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1247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3. Produce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Production Lead opens New Batch: SKU, bales needed, date. Daily totals across SKUs drive team payroll.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05156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05156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1247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4. Warehouse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60020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One finished-goods warehouse. Stock only leaves on an authorized trip consignment.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730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5.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20624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Trip cannot start without vehicle, warehouse, mileage start, route, bales loaded, and authorizing officer.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6576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0" y="365760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730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6. 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20624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Field sales (often paper first). App captures customer + SKU + qty before End Trip. Price deviations need a note.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576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65760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730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7.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20624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Goods Returned = Dispatched − Sold. Hard-coded. Never typed.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3657600"/>
            <a:ext cx="27889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3657600"/>
            <a:ext cx="278892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3730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8. Close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20624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End-of-trip report to Manager &amp; Director same day. Fuel, km, repairs attributed to the vehicle.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Who runs the day — roles &amp; monthly salary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Operational payroll (Finalis-style). Director allowance tracked separately — not mixed into staff payroll exports.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4813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Headcount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48132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Monthly band (KES)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8132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8424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Accountant / Manager (CPA Kathy)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842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98424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20,000 – 25,000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84248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Ops oversight + field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77439"/>
            <a:ext cx="10881360" cy="50292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8716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1–2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87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20,000 – 25,000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87168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Performance uplift to 25k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80359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90087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Sales Executive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2990087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99008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20,000 – 25,000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990087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Shares driver field workflow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83279"/>
            <a:ext cx="10881360" cy="50292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93007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Production ladies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493007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9300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8,000 – 12,500 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493007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Pay tied to daily production totals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86199"/>
            <a:ext cx="108813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995927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Director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995927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99592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60,000 allowance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995927"/>
            <a:ext cx="3703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Excluded from payroll Excel / Finalis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72000"/>
            <a:ext cx="108813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7548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Indicative operational payroll cash (mid bands)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166360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Manager 25k + Driver 20k + Sales 20k + 6×12.5k production = ~KES 140,000 base salaries / month
+ statutory (NSSF / SHIF / PAYE as applicable) ≈ plan ~KES 160–180k gross employer cost
+ Director allowance 60k (owner draw structure — discuss separately in term sheet)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Unit economics — bags, bales, and margin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3D2E"/>
                </a:solidFill>
                <a:latin typeface="Calibri"/>
              </a:rPr>
              <a:t>Hard rules (non-negotiable)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Empty bottles arrive in BAGS (not bales).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Bottles per bag varies by supplier + SKU (configurable).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Finished sales unit = BALE of 24 bottles.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Bales expected = (bags × bottles/bag) ÷ 24 — system-computed.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Trip consignment locks ‘goods dispatched’.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Returned = Dispatched − Sold — never manual.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303520" cy="49377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A35A"/>
                </a:solidFill>
                <a:latin typeface="Calibri"/>
              </a:rPr>
              <a:t>Why investors should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Stock theft and ‘phantom returns’ die when returns are math.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COGS is tied to GRN arrivals with invoices.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Sell-through % is visible per driver / trip.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Debt on trips is tracked with customer identity for recovery.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•  Competitive pricing logged vs Aquamist / Highland / Keringet.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A full operating month — modeled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Grounded in the live ops simulation on the Mara Water platform (current-month run).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Gross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KES 1.50M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Trip + counter sales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Cost of goods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KES 0.58M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Stock arrivals ~560–600k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41732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Gross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KES 0.92M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Before opex &amp; payroll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141732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Gross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1874519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3D2E"/>
                </a:solidFill>
                <a:latin typeface="Calibri"/>
              </a:rPr>
              <a:t>~61%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On modeled mix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0400"/>
            <a:ext cx="110642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Monthly cost stack (indicative)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7947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Stock purchase (COGS)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794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580,000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94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Fine Line / Blue Plus bags + landed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Bottle transport (Nairobi)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45–90,000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~KES 45k per consignment; 1–2 arrivals / 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434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Operational salaries (gross)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160–180,000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34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Manager, driver(s), sales, 6 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75487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Fuel / diesel (no excise)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7548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80–95,000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548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Excise duty scrapped — not applied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07491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Electricity tokens + repairs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0749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45–55,000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07491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Tokens when grid down; minor/major vehicle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9495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F1C"/>
                </a:solidFill>
                <a:latin typeface="Calibri"/>
              </a:rPr>
              <a:t>Petty cash / misc 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3949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3D2E"/>
                </a:solidFill>
                <a:latin typeface="Calibri"/>
              </a:rPr>
              <a:t>20–40,000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39495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B63"/>
                </a:solidFill>
                <a:latin typeface="Calibri"/>
              </a:rPr>
              <a:t>Float for field contingencies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Profit — how Directors see it (live, not spreadsheet fiction)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F1C"/>
                </a:solidFill>
                <a:latin typeface="Calibri"/>
              </a:rPr>
              <a:t>Profit  =  Gross Revenue  −  COGS  −  Salaries  −  All other deductions
(petty cash, fuel, repairs, VAT where applicable)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2194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1,500,000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103120"/>
            <a:ext cx="2103120" cy="219456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− COGS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00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580,000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103120"/>
            <a:ext cx="2103120" cy="219456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− Payroll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~170,000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103120"/>
            <a:ext cx="2103120" cy="219456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− Ops opex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200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~200,000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103120"/>
            <a:ext cx="2103120" cy="21945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2331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≈ Operating
profit*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2004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~550,000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*Illustrative based on simulated full-month run at KES 1.5M sales. Actual monthly profit depends on sell-through, debt recovery, and stock timing.
HR / Payroll / Profit screens are password-gated separately from general login — investor dashboards never see line-level salaries.
Fuel excise (formerly KES 4.61/L) has been scrapped and is not in the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What capital is needed to run a full month properly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B63"/>
                </a:solidFill>
                <a:latin typeface="Calibri"/>
              </a:rPr>
              <a:t>Working capital to pre-fund stock and ops before sales cash cycles back — this is the honest ask.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03520" cy="237744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4A35A"/>
                </a:solidFill>
                <a:latin typeface="Calibri"/>
              </a:rPr>
              <a:t>Recommended month-one float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KES 1.1 – 1.3M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DD4"/>
                </a:solidFill>
                <a:latin typeface="Calibri"/>
              </a:rPr>
              <a:t>Covers stock + transport + payroll + fuel/repairs
+ contingency while receivables clear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Breakdown of the float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Stock purchase: ~580–600k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Nairobi transport: ~45–90k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Payroll &amp; statutory: ~170–200k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Fuel / power / repairs: ~150k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Contingency &amp; debtor buffer: ~100–150k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11064240" cy="192024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How cash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F1C"/>
                </a:solidFill>
                <a:latin typeface="Calibri"/>
              </a:rPr>
              <a:t>Week 3–4 field sales pull cash and M-Pesa daily. Debt sales are tracked with customer name/phone/address for recovery.
With ~KES 1.5M monthly revenue, a well-run month replenishes the float and leaves operating profit for reinvestment or distribution per the revenue-share agreement.
Scale case: funding 2–3 months of stock ahead of rainy-season demand spikes reduces stockouts and protects margin.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Use of funds — if raising for growth (illustrative)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Example allocation for a KES 3.0–4.0M growth cheque (scale to your ask).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28016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508760"/>
            <a:ext cx="9692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691639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Working capital &amp;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01168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Pre-buy 2–3 production cycles of bags; lock supplier terms; avoid stockouts on peak routes.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128016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697480"/>
            <a:ext cx="9692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Fleet &amp; logistics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20040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Vehicle reliability, fuel float, major repairs buffer — km coverage is the sales engine.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86200"/>
            <a:ext cx="128016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886200"/>
            <a:ext cx="9692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4069080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People &amp; production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38912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Stabilize production team pay against targets; optional second sales route.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1280160" cy="10515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94959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5074920"/>
            <a:ext cx="9692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5257800"/>
            <a:ext cx="9235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2E"/>
                </a:solidFill>
                <a:latin typeface="Calibri"/>
              </a:rPr>
              <a:t>Systems &amp;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577840"/>
            <a:ext cx="9235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Already live digital ops; fund hardening, offline resilience, and investor reporting.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The digital control tower — already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Live at marawater.online  ·  API on Railway  ·  Android ops shell for field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3657600" cy="5943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Driver / Sales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Check-in by role (Driver vs Sales Exec)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Trip gates + authorizing officer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Offline-tolerant sales capture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Sell-through, fuel, repairs KPIs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Customer base for route repeats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657600" cy="59436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Manager / Director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Stock Arrival (Goods Received)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Production New Batch + daily totals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Attendance, walk-in &amp; field sales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Petty cash → monthly opex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Live profit (password-gated)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55448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554480"/>
            <a:ext cx="3657600" cy="594360"/>
          </a:xfrm>
          <a:prstGeom prst="rect">
            <a:avLst/>
          </a:prstGeom>
          <a:solidFill>
            <a:srgbClr val="1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Investor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Revenue today / this month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Production aggregate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Cash + M-Pesa collected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Reorder / stock health signal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Pricing &amp; competitive snapshot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F1C"/>
                </a:solidFill>
                <a:latin typeface="Calibri"/>
              </a:rPr>
              <a:t>•  No salaries, no trip gossip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Governance &amp; trust — designed for capital partners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3520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Revenue-share 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Investors bring capital for a share of revenue — active at strategic level, not as lenders chasing collateral.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97280"/>
            <a:ext cx="3520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Curated investor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High-signal metrics only. No individual salaries, debtor names, or petty-cash line items.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097280"/>
            <a:ext cx="3520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371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Dual gate on sensitive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HR / Payroll / Profit require secondary password re-auth even for Directors.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3520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Audit trails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Trip unlocks, price deviations, and end-of-trip reports are timestamped and attributable.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657600"/>
            <a:ext cx="3520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Excel everywhere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572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Every material table/report exports — for your own models and advisors.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3657600"/>
            <a:ext cx="35204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2E"/>
                </a:solidFill>
                <a:latin typeface="Calibri"/>
              </a:rPr>
              <a:t>Same source of 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572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B63"/>
                </a:solidFill>
                <a:latin typeface="Calibri"/>
              </a:rPr>
              <a:t>Web and Android field app share one API/database — no parallel books.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Market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Local competition tracked: Aquamist, Highland, Keringet — prices logged per SKU against Mara default &amp; corporate rates.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Three-tier pricing: Default (admin), Corporate (manager-negotiated), Competitive intelligence table.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Corridor advantage: dense shop network along Rongo–Homa Bay–Migori routes with repeat customers in CRM.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Risk: stockouts and vehicle downtime. Mitigation: funded stock cycles + repair tracking on the assigned vehicle.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F1C"/>
                </a:solidFill>
                <a:latin typeface="Calibri"/>
              </a:rPr>
              <a:t>•  Risk: field cash leakage. Mitigation: computed returns, reconciliation gate before End Trip, discrepancy flags.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212080" cy="475488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Investment thesis in one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2860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 cash-generative bottled-water route business with a real operating system — so incremental capital scales throughput instead of amplifying spreadsheet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Risks &amp; mitigations (what we tell serious money)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Calibri"/>
              </a:rPr>
              <a:t>Stock / theft / returns fraud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019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Returns = D − S only; trip lock; Director unlock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39"/>
            <a:ext cx="11064240" cy="64008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Calibri"/>
              </a:rPr>
              <a:t>Working-capital squeeze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420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Fund 1.1–1.3M month float; optional multi-cycle stock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821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Calibri"/>
              </a:rPr>
              <a:t>Vehicle downtime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821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Repair log major/minor; fuel logs; mileage from trips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64008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22191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Calibri"/>
              </a:rPr>
              <a:t>Credit / debtors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822191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Customer identity on every debt sale; ledger visibility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622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Calibri"/>
              </a:rPr>
              <a:t>Power / fuel cost spikes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622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Electricity tokens tracked; fuel excise removed from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solidFill>
            <a:srgbClr val="E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023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F1C"/>
                </a:solidFill>
                <a:latin typeface="Calibri"/>
              </a:rPr>
              <a:t>Key-person / ops opacity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1023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B63"/>
                </a:solidFill>
                <a:latin typeface="Calibri"/>
              </a:rPr>
              <a:t>Role-based dashboards; Manager + Director dual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3D2E"/>
                </a:solidFill>
                <a:latin typeface="Calibri"/>
              </a:rPr>
              <a:t>The conversation we want with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18288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Partner with us on a revenue-share basis to fund stock and working capital
for Mara Water’s Rongo corridor — with live visibility into performance,
and without drowning in operational noise.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Near-term: fund a clean full-month float (KES 1.1–1.3M) and prove repeatable sell-through on the system.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Growth: scale cheque (KES 3–4M+) to pre-buy multiple cycles, harden fleet, and open capacity on proven routes.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You receive: curated investor dashboard, monthly Excel packs, and a seat on capital decisions (e.g. reorder points).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We retain: day-to-day ops under Manager/Director with dual-gated payroll/profit confidentiality.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A1F1C"/>
                </a:solidFill>
                <a:latin typeface="Calibri"/>
              </a:rPr>
              <a:t>•  Next step: term-sheet discussion on revenue-share %, reporting calendar, and first stock PO timing.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B63"/>
                </a:solidFill>
                <a:latin typeface="Calibri"/>
              </a:rPr>
              <a:t>Homa Springs Limited  ·  Mara Water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B63"/>
                </a:solidFill>
                <a:latin typeface="Calibri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Let’s build a water business
you can actually see.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C5B8"/>
                </a:solidFill>
                <a:latin typeface="Calibri"/>
              </a:rPr>
              <a:t>Homa Springs Limited  ·  Mara Water
Rongo, Kenya
marawater.online
Confidential — for invited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